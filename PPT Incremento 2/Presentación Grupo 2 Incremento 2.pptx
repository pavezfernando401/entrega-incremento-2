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YAyOSgpMDl+TQL4DsVID89GWCC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arcelo Roza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11T20:11:07.195">
    <p:pos x="4466" y="843"/>
    <p:text>El GitHub ya lo tengo actualizado para añadir todos los incrementos, solo es añadir los enlaces reales a los repos con la documentación y hago commit. Como tmb añado el de repo 3 y repo 4 agrego en la nota que no estarian disponibles de momento y ya, asi nos evitamos el cacho de que no redirije a nada o si creas sus repos (lo mejor) la redirección sea la correcta pero solo encuentre un readme.md diciendo que todavia no se encuentra disponible (esto tambien lo añadiria en forma de nota)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UKmAVc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5d143b70_0_8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95d143b70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95d143b70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adb160a22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Quitar casos de uso individuales y hacer algo mas grafico que se entienda mas didactico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3eadb160a22_0_9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012e04817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e012e04817_0_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012e04817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e012e04817_0_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012e04817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e012e04817_0_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77ceb5db3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977ceb5db3_1_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798f05dd6_0_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9798f05dd6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9798f05dd6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798f05dd6_0_3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9798f05dd6_0_3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9798f05dd6_0_3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7b438e05f_0_1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97b438e05f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97b438e05f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b32a1684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fb32a1684b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.jp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0.gif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2.jp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"/>
          <p:cNvCxnSpPr/>
          <p:nvPr/>
        </p:nvCxnSpPr>
        <p:spPr>
          <a:xfrm>
            <a:off x="492141" y="3591697"/>
            <a:ext cx="7778648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 flipH="1">
            <a:off x="2186081" y="2158313"/>
            <a:ext cx="1" cy="1273156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0" name="Google Shape;90;p1"/>
          <p:cNvSpPr txBox="1"/>
          <p:nvPr/>
        </p:nvSpPr>
        <p:spPr>
          <a:xfrm>
            <a:off x="2015400" y="2099975"/>
            <a:ext cx="6903900" cy="2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PROYECTO INGENIERÍA DE SOFTWARE I: INCREMENTO </a:t>
            </a:r>
            <a:r>
              <a:rPr b="1" lang="en-US" sz="3600">
                <a:solidFill>
                  <a:schemeClr val="lt1"/>
                </a:solidFill>
              </a:rPr>
              <a:t>2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471850" y="3722675"/>
            <a:ext cx="6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de Gestión Integral para Finet - Grupo 2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24764" l="0" r="0" t="25505"/>
          <a:stretch/>
        </p:blipFill>
        <p:spPr>
          <a:xfrm>
            <a:off x="-14013" y="0"/>
            <a:ext cx="9172026" cy="143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5990" l="-153" r="153" t="46510"/>
          <a:stretch/>
        </p:blipFill>
        <p:spPr>
          <a:xfrm>
            <a:off x="-14013" y="5486719"/>
            <a:ext cx="9172026" cy="137128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492150" y="5858375"/>
            <a:ext cx="1954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de septiembre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349" y="2158313"/>
            <a:ext cx="1279083" cy="118959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3211025" y="5535175"/>
            <a:ext cx="585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Alumnos: Fernando Pavez, Marcelo Rozas, Vicente Jiménez, Matías Abarca, Emilio Castillo, Daniel Mass.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Profesor: Paulo Quinsacara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d95d143b70_0_88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d95d143b70_0_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d95d143b70_0_88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g3d95d143b70_0_88"/>
          <p:cNvGrpSpPr/>
          <p:nvPr/>
        </p:nvGrpSpPr>
        <p:grpSpPr>
          <a:xfrm>
            <a:off x="1794184" y="1142974"/>
            <a:ext cx="5389795" cy="4435297"/>
            <a:chOff x="381000" y="1047750"/>
            <a:chExt cx="4095900" cy="4572000"/>
          </a:xfrm>
        </p:grpSpPr>
        <p:sp>
          <p:nvSpPr>
            <p:cNvPr id="106" name="Google Shape;106;g3d95d143b70_0_88"/>
            <p:cNvSpPr/>
            <p:nvPr/>
          </p:nvSpPr>
          <p:spPr>
            <a:xfrm>
              <a:off x="381000" y="1047750"/>
              <a:ext cx="4095900" cy="4572000"/>
            </a:xfrm>
            <a:prstGeom prst="roundRect">
              <a:avLst>
                <a:gd fmla="val 3488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8"/>
                <a:buFont typeface="Arial"/>
                <a:buNone/>
              </a:pPr>
              <a:r>
                <a:t/>
              </a:r>
              <a:endParaRPr b="0" i="0" sz="13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d95d143b70_0_88"/>
            <p:cNvSpPr txBox="1"/>
            <p:nvPr/>
          </p:nvSpPr>
          <p:spPr>
            <a:xfrm>
              <a:off x="583954" y="1242139"/>
              <a:ext cx="3730200" cy="41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01.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Incremento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02.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0"/>
                    </a:ext>
                  </a:extLst>
                </a:rPr>
                <a:t>Caso de Uso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"/>
                    </a:ext>
                  </a:extLst>
                </a:rPr>
                <a:t>34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2"/>
                    </a:ext>
                  </a:extLst>
                </a:rPr>
                <a:t> – Descripción y actores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4"/>
                    </a:ext>
                  </a:extLst>
                </a:rPr>
                <a:t>03.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5"/>
                    </a:ext>
                  </a:extLst>
                </a:rPr>
                <a:t>Diagrama de secuencia Caso de Uso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6"/>
                    </a:ext>
                  </a:extLst>
                </a:rPr>
                <a:t>34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7"/>
                    </a:ext>
                  </a:extLst>
                </a:rPr>
                <a:t> 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7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9"/>
                    </a:ext>
                  </a:extLst>
                </a:rPr>
                <a:t>04.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0"/>
                    </a:ext>
                  </a:extLst>
                </a:rPr>
                <a:t>Vista en el sistema Caso de Uso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1"/>
                    </a:ext>
                  </a:extLst>
                </a:rPr>
                <a:t>34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3"/>
                    </a:ext>
                  </a:extLst>
                </a:rPr>
                <a:t>05.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4"/>
                    </a:ext>
                  </a:extLst>
                </a:rPr>
                <a:t>Caso de Uso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5"/>
                    </a:ext>
                  </a:extLst>
                </a:rPr>
                <a:t>60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6"/>
                    </a:ext>
                  </a:extLst>
                </a:rPr>
                <a:t> – Descripción y actores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7"/>
                  </a:ext>
                </a:extLst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8"/>
                    </a:ext>
                  </a:extLst>
                </a:rPr>
                <a:t>06.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9"/>
                    </a:ext>
                  </a:extLst>
                </a:rPr>
                <a:t>Diagrama de secuencia Caso de Uso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20"/>
                    </a:ext>
                  </a:extLst>
                </a:rPr>
                <a:t>60</a:t>
              </a:r>
              <a:endParaRPr b="1" i="0" sz="2234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1"/>
                  </a:ext>
                </a:extLst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22"/>
                    </a:ext>
                  </a:extLst>
                </a:rPr>
                <a:t>07.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23"/>
                    </a:ext>
                  </a:extLst>
                </a:rPr>
                <a:t>Vista en el sistema Caso de Uso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60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08.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Anexos y Repositorio Documental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8" name="Google Shape;108;g3d95d143b70_0_88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d95d143b70_0_88"/>
          <p:cNvSpPr txBox="1"/>
          <p:nvPr/>
        </p:nvSpPr>
        <p:spPr>
          <a:xfrm>
            <a:off x="9989825" y="875450"/>
            <a:ext cx="322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AGRANDAR ÍNDICE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eadb160a22_0_94" title="Puntuación lograd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663" y="2784400"/>
            <a:ext cx="6130674" cy="37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eadb160a22_0_94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eadb160a22_0_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eadb160a22_0_94"/>
          <p:cNvSpPr txBox="1"/>
          <p:nvPr/>
        </p:nvSpPr>
        <p:spPr>
          <a:xfrm>
            <a:off x="108976" y="127950"/>
            <a:ext cx="82071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Taza Scrum++: Incremento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eadb160a22_0_94"/>
          <p:cNvSpPr txBox="1"/>
          <p:nvPr/>
        </p:nvSpPr>
        <p:spPr>
          <a:xfrm>
            <a:off x="893250" y="1883100"/>
            <a:ext cx="735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adb160a22_0_94"/>
          <p:cNvSpPr txBox="1"/>
          <p:nvPr/>
        </p:nvSpPr>
        <p:spPr>
          <a:xfrm>
            <a:off x="2529150" y="1120400"/>
            <a:ext cx="40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eadb160a22_0_94"/>
          <p:cNvSpPr/>
          <p:nvPr/>
        </p:nvSpPr>
        <p:spPr>
          <a:xfrm>
            <a:off x="2571750" y="957263"/>
            <a:ext cx="1905000" cy="1428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g3eadb160a22_0_94"/>
          <p:cNvGrpSpPr/>
          <p:nvPr/>
        </p:nvGrpSpPr>
        <p:grpSpPr>
          <a:xfrm>
            <a:off x="476250" y="957263"/>
            <a:ext cx="8191500" cy="1428900"/>
            <a:chOff x="476250" y="1333500"/>
            <a:chExt cx="8191500" cy="1428900"/>
          </a:xfrm>
        </p:grpSpPr>
        <p:sp>
          <p:nvSpPr>
            <p:cNvPr id="122" name="Google Shape;122;g3eadb160a22_0_94"/>
            <p:cNvSpPr/>
            <p:nvPr/>
          </p:nvSpPr>
          <p:spPr>
            <a:xfrm>
              <a:off x="476250" y="1333500"/>
              <a:ext cx="1905000" cy="14289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3eadb160a22_0_94"/>
            <p:cNvSpPr txBox="1"/>
            <p:nvPr/>
          </p:nvSpPr>
          <p:spPr>
            <a:xfrm>
              <a:off x="476250" y="1333500"/>
              <a:ext cx="1905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0" u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lang="en-US" sz="32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3200" u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Casos de Uso Desarrollados</a:t>
              </a:r>
              <a:br>
                <a:rPr b="1" lang="en-US" sz="1200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n-US" sz="1200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(Sprint)</a:t>
              </a:r>
              <a:endParaRPr b="1" i="0" sz="1200" u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g3eadb160a22_0_94"/>
            <p:cNvSpPr/>
            <p:nvPr/>
          </p:nvSpPr>
          <p:spPr>
            <a:xfrm>
              <a:off x="4667250" y="1333500"/>
              <a:ext cx="1905000" cy="14289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g3eadb160a22_0_94"/>
            <p:cNvSpPr txBox="1"/>
            <p:nvPr/>
          </p:nvSpPr>
          <p:spPr>
            <a:xfrm>
              <a:off x="4667250" y="1333500"/>
              <a:ext cx="1905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28</a:t>
              </a:r>
              <a:r>
                <a:rPr b="1" i="0" lang="en-US" sz="2800" u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r>
                <a:rPr b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r>
                <a:rPr b="1" i="0" lang="en-US" sz="2800" u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5%</a:t>
              </a:r>
              <a:endParaRPr b="1" i="0" sz="2800" u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Porcentaje parcial (Sprint)</a:t>
              </a:r>
              <a:endParaRPr b="1" i="0" sz="1200" u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(2</a:t>
              </a:r>
              <a:r>
                <a:rPr lang="en-US" sz="1100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0" i="0" lang="en-US" sz="1100" u="none" strike="noStrike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 de 80)</a:t>
              </a:r>
              <a:endParaRPr b="1" i="0" sz="1100" u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eadb160a22_0_94"/>
            <p:cNvSpPr/>
            <p:nvPr/>
          </p:nvSpPr>
          <p:spPr>
            <a:xfrm>
              <a:off x="6762750" y="1333500"/>
              <a:ext cx="1905000" cy="14289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g3eadb160a22_0_94"/>
            <p:cNvSpPr txBox="1"/>
            <p:nvPr/>
          </p:nvSpPr>
          <p:spPr>
            <a:xfrm>
              <a:off x="6762750" y="1333500"/>
              <a:ext cx="1905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r>
                <a:rPr b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1" i="0" lang="en-US" sz="2800" u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.75%</a:t>
              </a:r>
              <a:endParaRPr b="1" i="0" sz="2800" u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Porcentaje acumulado</a:t>
              </a:r>
              <a:endParaRPr b="1" i="0" sz="1200" u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(2do Incremento)</a:t>
              </a:r>
              <a:endParaRPr b="1" i="0" sz="1100" u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8" name="Google Shape;128;g3eadb160a22_0_94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eadb160a22_0_94"/>
          <p:cNvSpPr txBox="1"/>
          <p:nvPr/>
        </p:nvSpPr>
        <p:spPr>
          <a:xfrm>
            <a:off x="2571750" y="957263"/>
            <a:ext cx="1905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 b="1" i="0" sz="3200" u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Casos de Uso Desarrollados (Total)</a:t>
            </a:r>
            <a:endParaRPr b="1" i="0" sz="1200" u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e012e04817_0_21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e012e04817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e012e04817_0_21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CU-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— descripción y actores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g3e012e04817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9013" y="942350"/>
            <a:ext cx="6605975" cy="497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e012e04817_0_21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3e012e04817_0_34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e012e04817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e012e04817_0_34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secuencia CU-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e012e04817_0_34"/>
          <p:cNvSpPr txBox="1"/>
          <p:nvPr/>
        </p:nvSpPr>
        <p:spPr>
          <a:xfrm>
            <a:off x="1539400" y="1120400"/>
            <a:ext cx="60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g3e012e04817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325" y="883575"/>
            <a:ext cx="7477347" cy="597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e012e04817_0_34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e012e04817_0_46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e012e04817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e012e04817_0_46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Vista en el sistema CU-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e012e04817_0_46"/>
          <p:cNvSpPr txBox="1"/>
          <p:nvPr/>
        </p:nvSpPr>
        <p:spPr>
          <a:xfrm>
            <a:off x="1539400" y="1120400"/>
            <a:ext cx="60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3e012e04817_0_46"/>
          <p:cNvPicPr preferRelativeResize="0"/>
          <p:nvPr/>
        </p:nvPicPr>
        <p:blipFill rotWithShape="1">
          <a:blip r:embed="rId5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e012e04817_0_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0375" y="1330427"/>
            <a:ext cx="8403242" cy="419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977ceb5db3_1_13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977ceb5db3_1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977ceb5db3_1_13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CU-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— descripción y actores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g3977ceb5db3_1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3100" y="879175"/>
            <a:ext cx="6437800" cy="5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977ceb5db3_1_13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g39798f05dd6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525" y="919400"/>
            <a:ext cx="7750929" cy="586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9798f05dd6_0_11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 cap="flat" cmpd="sng" w="9525">
            <a:solidFill>
              <a:srgbClr val="A0292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g39798f05dd6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9798f05dd6_0_11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secuencia CU-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39798f05dd6_0_11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39798f05dd6_0_390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9798f05dd6_0_3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9798f05dd6_0_390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Vista en el sistema CU-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g39798f05dd6_0_390"/>
          <p:cNvPicPr preferRelativeResize="0"/>
          <p:nvPr/>
        </p:nvPicPr>
        <p:blipFill rotWithShape="1">
          <a:blip r:embed="rId6">
            <a:alphaModFix/>
          </a:blip>
          <a:srcRect b="5854" l="14023" r="16105" t="4773"/>
          <a:stretch/>
        </p:blipFill>
        <p:spPr>
          <a:xfrm>
            <a:off x="747398" y="1044025"/>
            <a:ext cx="7649226" cy="487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9798f05dd6_0_390"/>
          <p:cNvPicPr preferRelativeResize="0"/>
          <p:nvPr/>
        </p:nvPicPr>
        <p:blipFill rotWithShape="1">
          <a:blip r:embed="rId7">
            <a:alphaModFix amt="30000"/>
          </a:blip>
          <a:srcRect b="0" l="0" r="0" t="0"/>
          <a:stretch/>
        </p:blipFill>
        <p:spPr>
          <a:xfrm>
            <a:off x="7105375" y="542584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397b438e05f_0_146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97b438e05f_0_1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97b438e05f_0_146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Anexos y Repositorio Documental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97b438e05f_0_146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323175" y="5334071"/>
            <a:ext cx="1834850" cy="120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197" name="Google Shape;197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3150" y="876723"/>
            <a:ext cx="719250" cy="6496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97b438e05f_0_146"/>
          <p:cNvSpPr txBox="1"/>
          <p:nvPr/>
        </p:nvSpPr>
        <p:spPr>
          <a:xfrm>
            <a:off x="1181200" y="972950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Incremento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Grupo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folder with a yellow border and a white background (proporcionada por Tenor)" id="199" name="Google Shape;199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1611348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00" name="Google Shape;200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3092998"/>
            <a:ext cx="719250" cy="6496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g397b438e05f_0_146"/>
          <p:cNvGrpSpPr/>
          <p:nvPr/>
        </p:nvGrpSpPr>
        <p:grpSpPr>
          <a:xfrm>
            <a:off x="6843750" y="1087250"/>
            <a:ext cx="2013050" cy="2019200"/>
            <a:chOff x="6627850" y="1188100"/>
            <a:chExt cx="2013050" cy="2019200"/>
          </a:xfrm>
        </p:grpSpPr>
        <p:sp>
          <p:nvSpPr>
            <p:cNvPr id="202" name="Google Shape;202;g397b438e05f_0_146"/>
            <p:cNvSpPr/>
            <p:nvPr/>
          </p:nvSpPr>
          <p:spPr>
            <a:xfrm>
              <a:off x="6627850" y="1188100"/>
              <a:ext cx="630000" cy="630000"/>
            </a:xfrm>
            <a:prstGeom prst="halfFrame">
              <a:avLst>
                <a:gd fmla="val 33333" name="adj1"/>
                <a:gd fmla="val 33333" name="adj2"/>
              </a:avLst>
            </a:prstGeom>
            <a:solidFill>
              <a:srgbClr val="8C1D2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g397b438e05f_0_146"/>
            <p:cNvSpPr/>
            <p:nvPr/>
          </p:nvSpPr>
          <p:spPr>
            <a:xfrm rot="5400000">
              <a:off x="8010900" y="1188100"/>
              <a:ext cx="630000" cy="630000"/>
            </a:xfrm>
            <a:prstGeom prst="halfFrame">
              <a:avLst>
                <a:gd fmla="val 33333" name="adj1"/>
                <a:gd fmla="val 33333" name="adj2"/>
              </a:avLst>
            </a:prstGeom>
            <a:solidFill>
              <a:srgbClr val="8C1D2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g397b438e05f_0_146"/>
            <p:cNvSpPr/>
            <p:nvPr/>
          </p:nvSpPr>
          <p:spPr>
            <a:xfrm rot="-5400000">
              <a:off x="6627850" y="2577300"/>
              <a:ext cx="630000" cy="630000"/>
            </a:xfrm>
            <a:prstGeom prst="halfFrame">
              <a:avLst>
                <a:gd fmla="val 33333" name="adj1"/>
                <a:gd fmla="val 33333" name="adj2"/>
              </a:avLst>
            </a:prstGeom>
            <a:solidFill>
              <a:srgbClr val="8C1D2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g397b438e05f_0_146"/>
            <p:cNvSpPr/>
            <p:nvPr/>
          </p:nvSpPr>
          <p:spPr>
            <a:xfrm rot="10800000">
              <a:off x="8010839" y="2577235"/>
              <a:ext cx="630000" cy="630000"/>
            </a:xfrm>
            <a:prstGeom prst="halfFrame">
              <a:avLst>
                <a:gd fmla="val 33333" name="adj1"/>
                <a:gd fmla="val 33333" name="adj2"/>
              </a:avLst>
            </a:prstGeom>
            <a:solidFill>
              <a:srgbClr val="8C1D2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folder with a yellow border and a white background (proporcionada por Tenor)" id="206" name="Google Shape;206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2345973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07" name="Google Shape;207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3840023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08" name="Google Shape;208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4587048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09" name="Google Shape;209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6081098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10" name="Google Shape;210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5334073"/>
            <a:ext cx="719250" cy="6496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g397b438e05f_0_146"/>
          <p:cNvCxnSpPr>
            <a:stCxn id="197" idx="2"/>
            <a:endCxn id="209" idx="1"/>
          </p:cNvCxnSpPr>
          <p:nvPr/>
        </p:nvCxnSpPr>
        <p:spPr>
          <a:xfrm flipH="1" rot="-5400000">
            <a:off x="-1547125" y="3786267"/>
            <a:ext cx="4879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g397b438e05f_0_146"/>
          <p:cNvCxnSpPr>
            <a:stCxn id="197" idx="2"/>
            <a:endCxn id="210" idx="1"/>
          </p:cNvCxnSpPr>
          <p:nvPr/>
        </p:nvCxnSpPr>
        <p:spPr>
          <a:xfrm flipH="1" rot="-5400000">
            <a:off x="-1173625" y="3412767"/>
            <a:ext cx="4132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g397b438e05f_0_146"/>
          <p:cNvCxnSpPr>
            <a:stCxn id="197" idx="2"/>
            <a:endCxn id="208" idx="1"/>
          </p:cNvCxnSpPr>
          <p:nvPr/>
        </p:nvCxnSpPr>
        <p:spPr>
          <a:xfrm flipH="1" rot="-5400000">
            <a:off x="-800125" y="3039267"/>
            <a:ext cx="3385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g397b438e05f_0_146"/>
          <p:cNvCxnSpPr>
            <a:stCxn id="197" idx="2"/>
            <a:endCxn id="207" idx="1"/>
          </p:cNvCxnSpPr>
          <p:nvPr/>
        </p:nvCxnSpPr>
        <p:spPr>
          <a:xfrm flipH="1" rot="-5400000">
            <a:off x="-426625" y="2665767"/>
            <a:ext cx="2638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g397b438e05f_0_146"/>
          <p:cNvCxnSpPr>
            <a:stCxn id="197" idx="2"/>
            <a:endCxn id="200" idx="1"/>
          </p:cNvCxnSpPr>
          <p:nvPr/>
        </p:nvCxnSpPr>
        <p:spPr>
          <a:xfrm flipH="1" rot="-5400000">
            <a:off x="-53125" y="2292267"/>
            <a:ext cx="1891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g397b438e05f_0_146"/>
          <p:cNvCxnSpPr>
            <a:stCxn id="197" idx="2"/>
            <a:endCxn id="206" idx="1"/>
          </p:cNvCxnSpPr>
          <p:nvPr/>
        </p:nvCxnSpPr>
        <p:spPr>
          <a:xfrm flipH="1" rot="-5400000">
            <a:off x="320375" y="1918767"/>
            <a:ext cx="1144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g397b438e05f_0_146"/>
          <p:cNvCxnSpPr>
            <a:stCxn id="197" idx="2"/>
            <a:endCxn id="199" idx="1"/>
          </p:cNvCxnSpPr>
          <p:nvPr/>
        </p:nvCxnSpPr>
        <p:spPr>
          <a:xfrm flipH="1" rot="-5400000">
            <a:off x="687725" y="1551417"/>
            <a:ext cx="4098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g397b438e05f_0_146"/>
          <p:cNvSpPr txBox="1"/>
          <p:nvPr/>
        </p:nvSpPr>
        <p:spPr>
          <a:xfrm>
            <a:off x="1943200" y="1713775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Árbol de Navegación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97b438e05f_0_146"/>
          <p:cNvSpPr txBox="1"/>
          <p:nvPr/>
        </p:nvSpPr>
        <p:spPr>
          <a:xfrm>
            <a:off x="1943200" y="2454600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Archivos Excel Sprint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97b438e05f_0_146"/>
          <p:cNvSpPr txBox="1"/>
          <p:nvPr/>
        </p:nvSpPr>
        <p:spPr>
          <a:xfrm>
            <a:off x="1943200" y="3081875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Componentes y Despliegue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97b438e05f_0_146"/>
          <p:cNvSpPr txBox="1"/>
          <p:nvPr/>
        </p:nvSpPr>
        <p:spPr>
          <a:xfrm>
            <a:off x="1943200" y="3936250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Secuencia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97b438e05f_0_146"/>
          <p:cNvSpPr txBox="1"/>
          <p:nvPr/>
        </p:nvSpPr>
        <p:spPr>
          <a:xfrm>
            <a:off x="1943200" y="4683275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Incremento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97b438e05f_0_146"/>
          <p:cNvSpPr txBox="1"/>
          <p:nvPr/>
        </p:nvSpPr>
        <p:spPr>
          <a:xfrm>
            <a:off x="1943200" y="5430300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MERE, MR y Modelo Físico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97b438e05f_0_146"/>
          <p:cNvSpPr txBox="1"/>
          <p:nvPr/>
        </p:nvSpPr>
        <p:spPr>
          <a:xfrm>
            <a:off x="1943200" y="6177325"/>
            <a:ext cx="60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PPT Incremento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Video Presentación y Video de instalación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97b438e05f_0_146"/>
          <p:cNvSpPr txBox="1"/>
          <p:nvPr/>
        </p:nvSpPr>
        <p:spPr>
          <a:xfrm>
            <a:off x="6797050" y="3268975"/>
            <a:ext cx="2095500" cy="20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 la documentación extendida y el código, se encuentra estructurada y disponible en nuestro entorno de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revisión profunda.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g397b438e05f_0_146" title="QR Indice completo GitHub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91188" y="1339538"/>
            <a:ext cx="1518175" cy="15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" name="Google Shape;231;g3fb32a1684b_0_0"/>
          <p:cNvCxnSpPr/>
          <p:nvPr/>
        </p:nvCxnSpPr>
        <p:spPr>
          <a:xfrm>
            <a:off x="492141" y="3591697"/>
            <a:ext cx="77787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232" name="Google Shape;232;g3fb32a1684b_0_0"/>
          <p:cNvCxnSpPr/>
          <p:nvPr/>
        </p:nvCxnSpPr>
        <p:spPr>
          <a:xfrm>
            <a:off x="2186082" y="2158313"/>
            <a:ext cx="0" cy="1273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33" name="Google Shape;233;g3fb32a1684b_0_0"/>
          <p:cNvSpPr txBox="1"/>
          <p:nvPr/>
        </p:nvSpPr>
        <p:spPr>
          <a:xfrm>
            <a:off x="2015400" y="2099975"/>
            <a:ext cx="6903900" cy="2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PROYECTO INGENIERÍA DE SOFTWARE I: INCREMENTO </a:t>
            </a:r>
            <a:r>
              <a:rPr b="1" lang="en-US" sz="3600">
                <a:solidFill>
                  <a:schemeClr val="lt1"/>
                </a:solidFill>
              </a:rPr>
              <a:t>2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b32a1684b_0_0"/>
          <p:cNvSpPr txBox="1"/>
          <p:nvPr/>
        </p:nvSpPr>
        <p:spPr>
          <a:xfrm>
            <a:off x="1471850" y="3722675"/>
            <a:ext cx="6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de Gestión Integral para Finet - Grupo 2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g3fb32a1684b_0_0"/>
          <p:cNvPicPr preferRelativeResize="0"/>
          <p:nvPr/>
        </p:nvPicPr>
        <p:blipFill rotWithShape="1">
          <a:blip r:embed="rId4">
            <a:alphaModFix/>
          </a:blip>
          <a:srcRect b="24761" l="0" r="0" t="25507"/>
          <a:stretch/>
        </p:blipFill>
        <p:spPr>
          <a:xfrm>
            <a:off x="-14013" y="0"/>
            <a:ext cx="9172027" cy="143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fb32a1684b_0_0"/>
          <p:cNvPicPr preferRelativeResize="0"/>
          <p:nvPr/>
        </p:nvPicPr>
        <p:blipFill rotWithShape="1">
          <a:blip r:embed="rId4">
            <a:alphaModFix/>
          </a:blip>
          <a:srcRect b="5990" l="-150" r="150" t="46511"/>
          <a:stretch/>
        </p:blipFill>
        <p:spPr>
          <a:xfrm>
            <a:off x="-14013" y="5486719"/>
            <a:ext cx="9172027" cy="137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fb32a1684b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349" y="2158313"/>
            <a:ext cx="1279083" cy="118959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fb32a1684b_0_0"/>
          <p:cNvSpPr txBox="1"/>
          <p:nvPr/>
        </p:nvSpPr>
        <p:spPr>
          <a:xfrm>
            <a:off x="3211025" y="5535175"/>
            <a:ext cx="585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Alumnos: Fernando Pavez, Marcelo Rozas, Vicente Jiménez, Matías Abarca, Emilio Castillo, Daniel Mass.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Profesor: Paulo Quinsacara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fb32a1684b_0_0"/>
          <p:cNvSpPr txBox="1"/>
          <p:nvPr/>
        </p:nvSpPr>
        <p:spPr>
          <a:xfrm>
            <a:off x="492150" y="5858375"/>
            <a:ext cx="1954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de septiembre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2018-06-26T20:44:09Z</dcterms:created>
  <dc:creator>Usuario de Microsoft Office</dc:creator>
</cp:coreProperties>
</file>